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My name is Mihail Croitor, and I am a doctoral student at Moldova State University.</a:t>
            </a:r>
          </a:p>
          <a:p/>
          <a:p>
            <a:r>
              <a:t>The title of my thesis is "Application of Artificial Intelligence for Assessing Open-Ended Responses".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problem we are addressing involves several key issues:</a:t>
            </a:r>
          </a:p>
          <a:p/>
          <a:p>
            <a:r>
              <a:t>- essay grading is time-consuming</a:t>
            </a:r>
          </a:p>
          <a:p>
            <a:r>
              <a:t>- human evaluation can be subjective</a:t>
            </a:r>
          </a:p>
          <a:p>
            <a:r>
              <a:t>- humans make mistakes</a:t>
            </a:r>
          </a:p>
          <a:p>
            <a:r>
              <a:t>- the grading results are often not clear to students</a:t>
            </a:r>
          </a:p>
          <a:p/>
          <a:p>
            <a:r>
              <a:t>Additionally, there are important ethical and financial aspects to consider.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leads to the following goals:</a:t>
            </a:r>
          </a:p>
          <a:p/>
          <a:p>
            <a:r>
              <a:t>- to evaluate whether AI can support or replace humans in essay evaluation, focusing on the stability of evaluation and achieving appropriate scoring results compared to human experts.</a:t>
            </a:r>
          </a:p>
          <a:p>
            <a:r>
              <a:t>- to develop an AI assessment tool that is natively integrated with the Moodle LMS.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do we solve this problem?</a:t>
            </a:r>
          </a:p>
          <a:p/>
          <a:p>
            <a:r>
              <a:t>We use a grading rubric, which is a pedagogical tool that provides transparency for students and a structured evaluation method for evaluators.</a:t>
            </a:r>
          </a:p>
          <a:p/>
          <a:p>
            <a:r>
              <a:t>The AI agent-evaluator must possess at least two distinct skills:</a:t>
            </a:r>
          </a:p>
          <a:p/>
          <a:p>
            <a:r>
              <a:t>- an assessment specialist skill, providing knowledge on how the assessment should be conducted.</a:t>
            </a:r>
          </a:p>
          <a:p>
            <a:r>
              <a:t>- a subject-domain specialist skill, ensuring deep knowledge of the specific course material.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problem defines a hypothesis: Can an essay be graded effectively by an AI agent?</a:t>
            </a:r>
          </a:p>
          <a:p/>
          <a:p>
            <a:r>
              <a:t>This question means the following:</a:t>
            </a:r>
          </a:p>
          <a:p/>
          <a:p>
            <a:r>
              <a:t>- if we will evaluate an essay more times, will we obtain the same or apropiate scores?</a:t>
            </a:r>
          </a:p>
          <a:p>
            <a:r>
              <a:t>- Will the AI score be same or apropiate with the human expert score?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conclude, I would like to highlight the scientific novelty and practical value of this work.</a:t>
            </a:r>
          </a:p>
          <a:p/>
          <a:p>
            <a:r>
              <a:t>The primary novelty is the development of a comprehensive framework that integrates ethics, analytic rubrics, and AI design into a single approach.</a:t>
            </a:r>
          </a:p>
          <a:p/>
          <a:p>
            <a:r>
              <a:t>In terms of practical value, the tool is designed for formative use—offering pre-grading feedback to students and reducing the administrative burden on teachers.</a:t>
            </a:r>
          </a:p>
          <a:p/>
          <a:p>
            <a:r>
              <a:t>Ultimately, our result shows that automation, when implemented responsibly, does not replace the educator but rather strengthens the overall evaluation process.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Application of Artificial Intelligence for Assessing Open-Ended Responses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Application of AI for Assessing Open-Ended Responses</a:t>
            </a:r>
          </a:p>
          <a:p>
            <a:pPr>
              <a:spcAft>
                <a:spcPts val="600"/>
              </a:spcAft>
              <a:defRPr sz="1800"/>
            </a:pPr>
            <a:r>
              <a:t>Mihail Croitor</a:t>
            </a:r>
          </a:p>
          <a:p>
            <a:pPr>
              <a:spcAft>
                <a:spcPts val="600"/>
              </a:spcAft>
              <a:defRPr sz="1800"/>
            </a:pPr>
            <a:r>
              <a:t>ECODAM,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Topic and Relevance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Application of Artificial Intelligence for Assessing</a:t>
            </a:r>
          </a:p>
          <a:p>
            <a:pPr>
              <a:spcAft>
                <a:spcPts val="600"/>
              </a:spcAft>
              <a:defRPr sz="1800"/>
            </a:pPr>
            <a:r>
              <a:t>Open-Ended Responses</a:t>
            </a:r>
          </a:p>
          <a:p>
            <a:pPr>
              <a:spcAft>
                <a:spcPts val="600"/>
              </a:spcAft>
              <a:defRPr sz="1800"/>
            </a:pPr>
            <a:r>
              <a:t>Topic: AI-based assessment of open-ended responses.</a:t>
            </a:r>
          </a:p>
          <a:p>
            <a:pPr>
              <a:spcAft>
                <a:spcPts val="600"/>
              </a:spcAft>
              <a:defRPr sz="1800"/>
            </a:pPr>
            <a:r>
              <a:t>Problem: essay grading is time-consuming.</a:t>
            </a:r>
          </a:p>
          <a:p>
            <a:pPr>
              <a:spcAft>
                <a:spcPts val="600"/>
              </a:spcAft>
              <a:defRPr sz="1800"/>
            </a:pPr>
            <a:r>
              <a:t>Opportunity: LLMs support scoring and feedback.</a:t>
            </a:r>
          </a:p>
          <a:p>
            <a:pPr>
              <a:spcAft>
                <a:spcPts val="600"/>
              </a:spcAft>
              <a:defRPr sz="1800"/>
            </a:pPr>
            <a:r>
              <a:t>Condition: accuracy, transparency, pedagogical fit.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Research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Research Objective</a:t>
            </a:r>
          </a:p>
          <a:p>
            <a:pPr>
              <a:spcAft>
                <a:spcPts val="600"/>
              </a:spcAft>
              <a:defRPr sz="1800"/>
            </a:pPr>
            <a:r>
              <a:t>Goal: develop an AI assessment tool for Moodle.</a:t>
            </a:r>
          </a:p>
          <a:p>
            <a:pPr>
              <a:spcAft>
                <a:spcPts val="600"/>
              </a:spcAft>
              <a:defRPr sz="1800"/>
            </a:pPr>
            <a:r>
              <a:t>Focus: not only performance, but responsible use.</a:t>
            </a:r>
          </a:p>
          <a:p>
            <a:pPr>
              <a:spcAft>
                <a:spcPts val="600"/>
              </a:spcAft>
              <a:defRPr sz="1800"/>
            </a:pPr>
            <a:r>
              <a:t>Benchmark: comparison with expert teachers.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Core Idea of 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Core Idea of the Solution</a:t>
            </a:r>
          </a:p>
          <a:p>
            <a:pPr>
              <a:spcAft>
                <a:spcPts val="600"/>
              </a:spcAft>
              <a:defRPr sz="1800"/>
            </a:pPr>
            <a:r>
              <a:t>1. Analytic rubrics as a shared scoring framework.</a:t>
            </a:r>
          </a:p>
          <a:p>
            <a:pPr>
              <a:spcAft>
                <a:spcPts val="600"/>
              </a:spcAft>
              <a:defRPr sz="1800"/>
            </a:pPr>
            <a:r>
              <a:t>2. Skill based assessment: assessment-specialist and</a:t>
            </a:r>
          </a:p>
          <a:p>
            <a:pPr>
              <a:spcAft>
                <a:spcPts val="600"/>
              </a:spcAft>
              <a:defRPr sz="1800"/>
            </a:pPr>
            <a:r>
              <a:t>subject-domain-specialist.</a:t>
            </a:r>
          </a:p>
          <a:p>
            <a:pPr>
              <a:spcAft>
                <a:spcPts val="600"/>
              </a:spcAft>
              <a:defRPr sz="1800"/>
            </a:pPr>
            <a:r>
              <a:t>3. Human-in-the-loop: AI supports, teacher decides.</a:t>
            </a:r>
          </a:p>
          <a:p>
            <a:pPr>
              <a:spcAft>
                <a:spcPts val="600"/>
              </a:spcAft>
              <a:defRPr sz="1800"/>
            </a:pPr>
            <a:r>
              <a:t>4. Explainable feedback, logging, transparency.</a:t>
            </a:r>
          </a:p>
          <a:p>
            <a:pPr>
              <a:spcAft>
                <a:spcPts val="600"/>
              </a:spcAft>
              <a:defRPr sz="1800"/>
            </a:pPr>
            <a:r>
              <a:t>5. Native integration into Moodle workflow.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Methodology and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Methodology and Validation</a:t>
            </a:r>
          </a:p>
          <a:p>
            <a:pPr>
              <a:spcAft>
                <a:spcPts val="600"/>
              </a:spcAft>
              <a:defRPr sz="1800"/>
            </a:pPr>
            <a:r>
              <a:t>Design: development plus empirical validation.</a:t>
            </a:r>
          </a:p>
          <a:p>
            <a:pPr>
              <a:spcAft>
                <a:spcPts val="600"/>
              </a:spcAft>
              <a:defRPr sz="1800"/>
            </a:pPr>
            <a:r>
              <a:t>Check 1: agreement with independent experts.</a:t>
            </a:r>
          </a:p>
          <a:p>
            <a:pPr>
              <a:spcAft>
                <a:spcPts val="600"/>
              </a:spcAft>
              <a:defRPr sz="1800"/>
            </a:pPr>
            <a:r>
              <a:t>Check 2: stability experiment on essay grading.</a:t>
            </a:r>
          </a:p>
          <a:p>
            <a:pPr>
              <a:spcAft>
                <a:spcPts val="600"/>
              </a:spcAft>
              <a:defRPr sz="1800"/>
            </a:pPr>
            <a:r>
              <a:t>Modes: simple prompt; skill-based prompt; skill + rubric.</a:t>
            </a:r>
          </a:p>
          <a:p>
            <a:pPr>
              <a:spcAft>
                <a:spcPts val="600"/>
              </a:spcAft>
              <a:defRPr sz="1800"/>
            </a:pPr>
            <a:r>
              <a:t>Check 3: feedback quality, bias risks, practical limits.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Scientific Novelty and Practical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/>
            </a:pPr>
            <a:r>
              <a:t>Scientific Novelty and Practical Value</a:t>
            </a:r>
          </a:p>
          <a:p>
            <a:pPr>
              <a:spcAft>
                <a:spcPts val="600"/>
              </a:spcAft>
              <a:defRPr sz="1800"/>
            </a:pPr>
            <a:r>
              <a:t>Novelty: one framework for ethics, rubrics, and AI design.</a:t>
            </a:r>
          </a:p>
          <a:p>
            <a:pPr>
              <a:spcAft>
                <a:spcPts val="600"/>
              </a:spcAft>
              <a:defRPr sz="1800"/>
            </a:pPr>
            <a:r>
              <a:t>Value: formative use, pre-grading, teacher support.</a:t>
            </a:r>
          </a:p>
          <a:p>
            <a:pPr>
              <a:spcAft>
                <a:spcPts val="600"/>
              </a:spcAft>
              <a:defRPr sz="1800"/>
            </a:pPr>
            <a:r>
              <a:t>Result: automation strengthens the evaluation process.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